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Skor</c:v>
                </c:pt>
              </c:strCache>
            </c:strRef>
          </c:tx>
          <c:spPr>
            <a:solidFill>
              <a:srgbClr val="0B2A4A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2181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Precision@3</c:v>
                  </c:pt>
                  <c:pt idx="1">
                    <c:v>Recall@3</c:v>
                  </c:pt>
                  <c:pt idx="2">
                    <c:v>MRR</c:v>
                  </c:pt>
                  <c:pt idx="3">
                    <c:v>Fallback Doğruluğu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0.5556</c:v>
                </c:pt>
                <c:pt idx="1">
                  <c:v>0.4167</c:v>
                </c:pt>
                <c:pt idx="2">
                  <c:v>0.6528</c:v>
                </c:pt>
                <c:pt idx="3">
                  <c:v>0.875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12181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77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</c:scaling>
        <c:delete val="0"/>
        <c:axPos val="l"/>
        <c:majorGridlines>
          <c:spPr>
            <a:ln w="12700" cap="flat">
              <a:solidFill>
                <a:srgbClr val="E4E2D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7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1.png"/><Relationship Id="rId3" Type="http://schemas.openxmlformats.org/officeDocument/2006/relationships/image" Target="../media/image-11-1.png"/><Relationship Id="rId4" Type="http://schemas.openxmlformats.org/officeDocument/2006/relationships/image" Target="../media/image-11-1.png"/><Relationship Id="rId5" Type="http://schemas.openxmlformats.org/officeDocument/2006/relationships/image" Target="../media/image-11-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85800"/>
            <a:ext cx="822960" cy="822960"/>
          </a:xfrm>
          <a:prstGeom prst="ellipse">
            <a:avLst/>
          </a:prstGeom>
          <a:solidFill>
            <a:srgbClr val="C10100"/>
          </a:solidFill>
          <a:ln/>
        </p:spPr>
      </p:sp>
      <p:pic>
        <p:nvPicPr>
          <p:cNvPr id="3" name="Image 0" descr="/home/claude/deck/icons/sh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9945" y="792785"/>
            <a:ext cx="608990" cy="6089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21488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10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AFET ANI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77240" y="251460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Çevrimdışı İlk Yardım Asistanı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822960" y="379476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DDE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İnternet olmadığında çalışan, resmi kaynaklardan doğrulanmış,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DDE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zekânın asla tahmin etmediği bir acil durum asistanı.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822960" y="5989320"/>
            <a:ext cx="2926080" cy="0"/>
          </a:xfrm>
          <a:prstGeom prst="line">
            <a:avLst/>
          </a:prstGeom>
          <a:noFill/>
          <a:ln w="12700">
            <a:solidFill>
              <a:srgbClr val="2C4A6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6126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Foundry Local Staj Projesi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22960" y="638251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 Soyad]  ·  [Tarih]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400800" y="6382512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7E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github.com/dildasoftware/afet-ani-cevrimdisi-ilk-yardim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C10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65836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200" b="1" dirty="0">
                <a:solidFill>
                  <a:srgbClr val="121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Deprem anında internet</a:t>
            </a:r>
            <a:endParaRPr lang="en-US" sz="32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3200" b="1" dirty="0">
                <a:solidFill>
                  <a:srgbClr val="121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çöktüğünde ne olur?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2697480"/>
            <a:ext cx="63093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 Kahramanmaraş depreminde baz istasyonları çöktü, elektrik kesildi, milyonlarca insan saatlerce — bazen günlerce — internete erişemedi. Tam da en çok bilgiye ihtiyaç duyduğumuz anda, cebimizdeki en güçlü araç işe yaramaz hale geldi.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4709160"/>
            <a:ext cx="630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proje, tam olarak bu soruya cevap arıyor: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5120640"/>
            <a:ext cx="6309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101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“İnterneti hiç beklemeyen bir ilk yardım asistanı yapabilir miyiz?”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635240" y="777240"/>
            <a:ext cx="3703320" cy="5074920"/>
          </a:xfrm>
          <a:prstGeom prst="roundRect">
            <a:avLst>
              <a:gd name="adj" fmla="val 1975"/>
            </a:avLst>
          </a:prstGeom>
          <a:solidFill>
            <a:srgbClr val="0B2A4A"/>
          </a:solidFill>
          <a:ln/>
        </p:spPr>
      </p:sp>
      <p:sp>
        <p:nvSpPr>
          <p:cNvPr id="8" name="Shape 6"/>
          <p:cNvSpPr/>
          <p:nvPr/>
        </p:nvSpPr>
        <p:spPr>
          <a:xfrm>
            <a:off x="8001000" y="1188720"/>
            <a:ext cx="731520" cy="731520"/>
          </a:xfrm>
          <a:prstGeom prst="ellipse">
            <a:avLst/>
          </a:prstGeom>
          <a:solidFill>
            <a:srgbClr val="C10100"/>
          </a:solidFill>
          <a:ln/>
        </p:spPr>
      </p:sp>
      <p:pic>
        <p:nvPicPr>
          <p:cNvPr id="9" name="Image 0" descr="/home/claude/deck/icons/wifio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6098" y="1283818"/>
            <a:ext cx="541325" cy="541325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001000" y="21031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10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ÇEVRİMDIŞI ÇALIŞMA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8001000" y="2423160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Sistem, kurulumdan sonra</a:t>
            </a: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hiçbir internet bağlantısı</a:t>
            </a: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gerektirmeden çalışır.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8001000" y="3657600"/>
            <a:ext cx="3017520" cy="0"/>
          </a:xfrm>
          <a:prstGeom prst="line">
            <a:avLst/>
          </a:prstGeom>
          <a:noFill/>
          <a:ln w="12700">
            <a:solidFill>
              <a:srgbClr val="2C4A6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001000" y="3840480"/>
            <a:ext cx="30175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i="1" dirty="0">
                <a:solidFill>
                  <a:srgbClr val="DDE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çalıştırma, arama, cevap üretimi — hepsi kullanıcının kendi bilgisayarında.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6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C10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1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Tamamen yerel çalışan bir RAG sistemi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1508760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(Retrieval-Augmented Generation): kullanıcının sorusu önce kendi yerel bilgi tabanında aranır, sonra bulunan gerçek kaynaklardan cevap oluşturulur.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2468880"/>
            <a:ext cx="3310128" cy="3291840"/>
          </a:xfrm>
          <a:prstGeom prst="roundRect">
            <a:avLst>
              <a:gd name="adj" fmla="val 2222"/>
            </a:avLst>
          </a:prstGeom>
          <a:solidFill>
            <a:srgbClr val="FBFAF6"/>
          </a:solidFill>
          <a:ln w="12700">
            <a:solidFill>
              <a:srgbClr val="E4E2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3000" y="2834640"/>
            <a:ext cx="685800" cy="685800"/>
          </a:xfrm>
          <a:prstGeom prst="ellipse">
            <a:avLst/>
          </a:prstGeom>
          <a:solidFill>
            <a:srgbClr val="0B2A4A"/>
          </a:solidFill>
          <a:ln/>
        </p:spPr>
      </p:sp>
      <p:pic>
        <p:nvPicPr>
          <p:cNvPr id="7" name="Image 0" descr="/home/claude/deck/icons/microchi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2154" y="2923794"/>
            <a:ext cx="507492" cy="50749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43000" y="3703320"/>
            <a:ext cx="267004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50" b="1" dirty="0">
                <a:solidFill>
                  <a:srgbClr val="121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Microsoft Foundry Local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1143000" y="4434840"/>
            <a:ext cx="267004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zeka modelleri bulutta değil, doğrudan kullanıcının bilgisayarında çalışır.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425696" y="2468880"/>
            <a:ext cx="3310128" cy="3291840"/>
          </a:xfrm>
          <a:prstGeom prst="roundRect">
            <a:avLst>
              <a:gd name="adj" fmla="val 2222"/>
            </a:avLst>
          </a:prstGeom>
          <a:solidFill>
            <a:srgbClr val="FBFAF6"/>
          </a:solidFill>
          <a:ln w="12700">
            <a:solidFill>
              <a:srgbClr val="E4E2DD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745736" y="2834640"/>
            <a:ext cx="685800" cy="685800"/>
          </a:xfrm>
          <a:prstGeom prst="ellipse">
            <a:avLst/>
          </a:prstGeom>
          <a:solidFill>
            <a:srgbClr val="0B2A4A"/>
          </a:solidFill>
          <a:ln/>
        </p:spPr>
      </p:sp>
      <p:pic>
        <p:nvPicPr>
          <p:cNvPr id="12" name="Image 1" descr="/home/claude/deck/icons/databas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4890" y="2923794"/>
            <a:ext cx="507492" cy="50749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45736" y="3703320"/>
            <a:ext cx="267004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50" b="1" dirty="0">
                <a:solidFill>
                  <a:srgbClr val="121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277 Doğrulanmış Kaynak</a:t>
            </a:r>
            <a:endParaRPr lang="en-US" sz="1650" dirty="0"/>
          </a:p>
        </p:txBody>
      </p:sp>
      <p:sp>
        <p:nvSpPr>
          <p:cNvPr id="14" name="Text 10"/>
          <p:cNvSpPr/>
          <p:nvPr/>
        </p:nvSpPr>
        <p:spPr>
          <a:xfrm>
            <a:off x="4745736" y="4434840"/>
            <a:ext cx="267004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resmi belgeden derlenmiş, T.C. Sağlık Bakanlığı ve AFAD kaynaklı bilgi.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028432" y="2468880"/>
            <a:ext cx="3310128" cy="3291840"/>
          </a:xfrm>
          <a:prstGeom prst="roundRect">
            <a:avLst>
              <a:gd name="adj" fmla="val 2222"/>
            </a:avLst>
          </a:prstGeom>
          <a:solidFill>
            <a:srgbClr val="FBFAF6"/>
          </a:solidFill>
          <a:ln w="12700">
            <a:solidFill>
              <a:srgbClr val="E4E2DD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348472" y="2834640"/>
            <a:ext cx="685800" cy="685800"/>
          </a:xfrm>
          <a:prstGeom prst="ellipse">
            <a:avLst/>
          </a:prstGeom>
          <a:solidFill>
            <a:srgbClr val="0B2A4A"/>
          </a:solidFill>
          <a:ln/>
        </p:spPr>
      </p:sp>
      <p:pic>
        <p:nvPicPr>
          <p:cNvPr id="17" name="Image 2" descr="/home/claude/deck/icons/commentslas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7626" y="2923794"/>
            <a:ext cx="507492" cy="50749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48472" y="3703320"/>
            <a:ext cx="267004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50" b="1" dirty="0">
                <a:solidFill>
                  <a:srgbClr val="121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Tahmin Etmeyen Model</a:t>
            </a:r>
            <a:endParaRPr lang="en-US" sz="1650" dirty="0"/>
          </a:p>
        </p:txBody>
      </p:sp>
      <p:sp>
        <p:nvSpPr>
          <p:cNvPr id="19" name="Text 14"/>
          <p:cNvSpPr/>
          <p:nvPr/>
        </p:nvSpPr>
        <p:spPr>
          <a:xfrm>
            <a:off x="8348472" y="4434840"/>
            <a:ext cx="267004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zeka hiçbir zaman kendi kelimeleriyle konuşmaz — sadece kaynaktan alıntı yapar.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6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C10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MIMARI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5029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1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Sorudan cevaba: hibrit arama hattı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691640"/>
            <a:ext cx="1920240" cy="868680"/>
          </a:xfrm>
          <a:prstGeom prst="roundRect">
            <a:avLst>
              <a:gd name="adj" fmla="val 6316"/>
            </a:avLst>
          </a:prstGeom>
          <a:solidFill>
            <a:srgbClr val="0B2A4A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91640"/>
            <a:ext cx="1920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Kullanıcı</a:t>
            </a:r>
            <a:endParaRPr lang="en-US" sz="11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Sorusu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063240" y="1691640"/>
            <a:ext cx="2103120" cy="868680"/>
          </a:xfrm>
          <a:prstGeom prst="roundRect">
            <a:avLst>
              <a:gd name="adj" fmla="val 6316"/>
            </a:avLst>
          </a:prstGeom>
          <a:solidFill>
            <a:srgbClr val="FBFAF6"/>
          </a:solidFill>
          <a:ln w="12700">
            <a:solidFill>
              <a:srgbClr val="E4E2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063240" y="1691640"/>
            <a:ext cx="2103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</a:t>
            </a:r>
            <a:endParaRPr lang="en-US" sz="11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(Anahtar Kelime)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40680" y="1691640"/>
            <a:ext cx="2103120" cy="868680"/>
          </a:xfrm>
          <a:prstGeom prst="roundRect">
            <a:avLst>
              <a:gd name="adj" fmla="val 6316"/>
            </a:avLst>
          </a:prstGeom>
          <a:solidFill>
            <a:srgbClr val="FBFAF6"/>
          </a:solidFill>
          <a:ln w="12700">
            <a:solidFill>
              <a:srgbClr val="E4E2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40680" y="1691640"/>
            <a:ext cx="2103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Search</a:t>
            </a:r>
            <a:endParaRPr lang="en-US" sz="11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(Anlam Bazlı)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818120" y="1691640"/>
            <a:ext cx="1920240" cy="868680"/>
          </a:xfrm>
          <a:prstGeom prst="roundRect">
            <a:avLst>
              <a:gd name="adj" fmla="val 6316"/>
            </a:avLst>
          </a:prstGeom>
          <a:solidFill>
            <a:srgbClr val="0B2A4A"/>
          </a:solidFill>
          <a:ln/>
        </p:spPr>
      </p:sp>
      <p:sp>
        <p:nvSpPr>
          <p:cNvPr id="11" name="Text 9"/>
          <p:cNvSpPr/>
          <p:nvPr/>
        </p:nvSpPr>
        <p:spPr>
          <a:xfrm>
            <a:off x="7818120" y="1691640"/>
            <a:ext cx="1920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RRF</a:t>
            </a:r>
            <a:endParaRPr lang="en-US" sz="11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Birleştirme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10012680" y="1691640"/>
            <a:ext cx="1371600" cy="868680"/>
          </a:xfrm>
          <a:prstGeom prst="roundRect">
            <a:avLst>
              <a:gd name="adj" fmla="val 6316"/>
            </a:avLst>
          </a:prstGeom>
          <a:solidFill>
            <a:srgbClr val="C10100"/>
          </a:solidFill>
          <a:ln/>
        </p:spPr>
      </p:sp>
      <p:sp>
        <p:nvSpPr>
          <p:cNvPr id="13" name="Text 11"/>
          <p:cNvSpPr/>
          <p:nvPr/>
        </p:nvSpPr>
        <p:spPr>
          <a:xfrm>
            <a:off x="10012680" y="1691640"/>
            <a:ext cx="1371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Eşik</a:t>
            </a:r>
            <a:endParaRPr lang="en-US" sz="11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Kontrolü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743200" y="2043684"/>
            <a:ext cx="320040" cy="164592"/>
          </a:xfrm>
          <a:prstGeom prst="rightArrow">
            <a:avLst/>
          </a:prstGeom>
          <a:solidFill>
            <a:srgbClr val="8B96A1"/>
          </a:solidFill>
          <a:ln/>
        </p:spPr>
      </p:sp>
      <p:sp>
        <p:nvSpPr>
          <p:cNvPr id="15" name="Shape 13"/>
          <p:cNvSpPr/>
          <p:nvPr/>
        </p:nvSpPr>
        <p:spPr>
          <a:xfrm>
            <a:off x="5166360" y="2043684"/>
            <a:ext cx="274320" cy="164592"/>
          </a:xfrm>
          <a:prstGeom prst="rightArrow">
            <a:avLst/>
          </a:prstGeom>
          <a:solidFill>
            <a:srgbClr val="8B96A1"/>
          </a:solidFill>
          <a:ln/>
        </p:spPr>
      </p:sp>
      <p:sp>
        <p:nvSpPr>
          <p:cNvPr id="16" name="Shape 14"/>
          <p:cNvSpPr/>
          <p:nvPr/>
        </p:nvSpPr>
        <p:spPr>
          <a:xfrm>
            <a:off x="7543800" y="2043684"/>
            <a:ext cx="274320" cy="164592"/>
          </a:xfrm>
          <a:prstGeom prst="rightArrow">
            <a:avLst/>
          </a:prstGeom>
          <a:solidFill>
            <a:srgbClr val="8B96A1"/>
          </a:solidFill>
          <a:ln/>
        </p:spPr>
      </p:sp>
      <p:sp>
        <p:nvSpPr>
          <p:cNvPr id="17" name="Shape 15"/>
          <p:cNvSpPr/>
          <p:nvPr/>
        </p:nvSpPr>
        <p:spPr>
          <a:xfrm>
            <a:off x="9738360" y="2043684"/>
            <a:ext cx="274320" cy="164592"/>
          </a:xfrm>
          <a:prstGeom prst="rightArrow">
            <a:avLst/>
          </a:prstGeom>
          <a:solidFill>
            <a:srgbClr val="8B96A1"/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" y="3246120"/>
            <a:ext cx="5120640" cy="1554480"/>
          </a:xfrm>
          <a:prstGeom prst="roundRect">
            <a:avLst>
              <a:gd name="adj" fmla="val 4706"/>
            </a:avLst>
          </a:prstGeom>
          <a:solidFill>
            <a:srgbClr val="DDE5EE"/>
          </a:solidFill>
          <a:ln/>
        </p:spPr>
      </p:sp>
      <p:sp>
        <p:nvSpPr>
          <p:cNvPr id="19" name="Text 17"/>
          <p:cNvSpPr/>
          <p:nvPr/>
        </p:nvSpPr>
        <p:spPr>
          <a:xfrm>
            <a:off x="1097280" y="34290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YETERLİ BAĞLAM VAR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097280" y="374904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Kaynaktan birebir alıntı + kategoriye özel giriş cümlesi + Acil Durum Kartı gösterilir.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217920" y="3246120"/>
            <a:ext cx="5120640" cy="1554480"/>
          </a:xfrm>
          <a:prstGeom prst="roundRect">
            <a:avLst>
              <a:gd name="adj" fmla="val 4706"/>
            </a:avLst>
          </a:prstGeom>
          <a:solidFill>
            <a:srgbClr val="F8E3E3"/>
          </a:solidFill>
          <a:ln/>
        </p:spPr>
      </p:sp>
      <p:sp>
        <p:nvSpPr>
          <p:cNvPr id="22" name="Text 20"/>
          <p:cNvSpPr/>
          <p:nvPr/>
        </p:nvSpPr>
        <p:spPr>
          <a:xfrm>
            <a:off x="6492240" y="34290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C10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YETERSİZ BAĞLAM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492240" y="374904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tahmin etmez — kullanıcıyı daha açık bir soru sormaya yönlendirir, 112’yi hatırlatır.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22960" y="5074920"/>
            <a:ext cx="10515600" cy="1051560"/>
          </a:xfrm>
          <a:prstGeom prst="roundRect">
            <a:avLst>
              <a:gd name="adj" fmla="val 6957"/>
            </a:avLst>
          </a:prstGeom>
          <a:solidFill>
            <a:srgbClr val="12181F"/>
          </a:solidFill>
          <a:ln/>
        </p:spPr>
      </p:sp>
      <p:sp>
        <p:nvSpPr>
          <p:cNvPr id="25" name="Text 23"/>
          <p:cNvSpPr/>
          <p:nvPr/>
        </p:nvSpPr>
        <p:spPr>
          <a:xfrm>
            <a:off x="1143000" y="523036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10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S.O.S. BAYPAS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143000" y="5532120"/>
            <a:ext cx="9966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D8D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Acil durum modu, yukarıdaki tüm arama hattını atlayarak anında 112 bilgisini gösterir — panik anında saniyeler önemlidir.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6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C10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KRITIK MÜHENDISLIK KARARI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10424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Model, hiçbir zaman kendi kelimeleriyle konuşmaz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92024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DDE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Geliştirme sürecinde, küçük dil modeli (phi-3.5-mini) iki farklı görevde test edildi. İkisinde de sistematik olarak başarısız oldu — bu, mimarinin temel taşı haline geldi.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2834640"/>
            <a:ext cx="5029200" cy="2377440"/>
          </a:xfrm>
          <a:prstGeom prst="roundRect">
            <a:avLst>
              <a:gd name="adj" fmla="val 3077"/>
            </a:avLst>
          </a:prstGeom>
          <a:solidFill>
            <a:srgbClr val="123A63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3063240"/>
            <a:ext cx="5029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C101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/ 3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1188720" y="4160520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Serbest üretim stratejisi</a:t>
            </a:r>
            <a:endParaRPr lang="en-US" sz="13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tutarlı şekilde bozuk Türkçe üretti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0" y="2834640"/>
            <a:ext cx="5029200" cy="2377440"/>
          </a:xfrm>
          <a:prstGeom prst="roundRect">
            <a:avLst>
              <a:gd name="adj" fmla="val 3077"/>
            </a:avLst>
          </a:prstGeom>
          <a:solidFill>
            <a:srgbClr val="123A63"/>
          </a:solidFill>
          <a:ln/>
        </p:spPr>
      </p:sp>
      <p:sp>
        <p:nvSpPr>
          <p:cNvPr id="9" name="Text 7"/>
          <p:cNvSpPr/>
          <p:nvPr/>
        </p:nvSpPr>
        <p:spPr>
          <a:xfrm>
            <a:off x="6217920" y="3063240"/>
            <a:ext cx="5029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C101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/ 8</a:t>
            </a:r>
            <a:endParaRPr lang="en-US" sz="5600" dirty="0"/>
          </a:p>
        </p:txBody>
      </p:sp>
      <p:sp>
        <p:nvSpPr>
          <p:cNvPr id="10" name="Text 8"/>
          <p:cNvSpPr/>
          <p:nvPr/>
        </p:nvSpPr>
        <p:spPr>
          <a:xfrm>
            <a:off x="6583680" y="4160520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Kapalı-küme sınıflandırma</a:t>
            </a:r>
            <a:endParaRPr lang="en-US" sz="13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görevinde doğru kategori seçilemedi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5532120"/>
            <a:ext cx="10424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Sonuç: LLM’e hiçbir zaman karar verme veya metin üretme yetkisi verilmedi — sadece doğrulanmış kaynak metinleri birebir sunar.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C10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TEKNOLOJI YIĞINI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5029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1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 kullandık, neden kullandık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463040"/>
            <a:ext cx="3310128" cy="1965960"/>
          </a:xfrm>
          <a:prstGeom prst="roundRect">
            <a:avLst>
              <a:gd name="adj" fmla="val 3256"/>
            </a:avLst>
          </a:prstGeom>
          <a:solidFill>
            <a:srgbClr val="FBFAF6"/>
          </a:solidFill>
          <a:ln w="12700">
            <a:solidFill>
              <a:srgbClr val="E4E2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8992" y="1719072"/>
            <a:ext cx="548640" cy="548640"/>
          </a:xfrm>
          <a:prstGeom prst="ellipse">
            <a:avLst/>
          </a:prstGeom>
          <a:solidFill>
            <a:srgbClr val="0B2A4A"/>
          </a:solidFill>
          <a:ln/>
        </p:spPr>
      </p:sp>
      <p:pic>
        <p:nvPicPr>
          <p:cNvPr id="6" name="Image 0" descr="/home/claude/deck/icons/microchi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0315" y="1790395"/>
            <a:ext cx="405994" cy="40599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1664208"/>
            <a:ext cx="212140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1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Foundry Local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078992" y="2423160"/>
            <a:ext cx="27980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Yerel model çalıştırma altyapısı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425696" y="1463040"/>
            <a:ext cx="3310128" cy="1965960"/>
          </a:xfrm>
          <a:prstGeom prst="roundRect">
            <a:avLst>
              <a:gd name="adj" fmla="val 3256"/>
            </a:avLst>
          </a:prstGeom>
          <a:solidFill>
            <a:srgbClr val="FBFAF6"/>
          </a:solidFill>
          <a:ln w="12700">
            <a:solidFill>
              <a:srgbClr val="E4E2D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681728" y="1719072"/>
            <a:ext cx="548640" cy="548640"/>
          </a:xfrm>
          <a:prstGeom prst="ellipse">
            <a:avLst/>
          </a:prstGeom>
          <a:solidFill>
            <a:srgbClr val="0B2A4A"/>
          </a:solidFill>
          <a:ln/>
        </p:spPr>
      </p:sp>
      <p:pic>
        <p:nvPicPr>
          <p:cNvPr id="11" name="Image 1" descr="/home/claude/deck/icons/lay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3051" y="1790395"/>
            <a:ext cx="405994" cy="40599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85816" y="1664208"/>
            <a:ext cx="212140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1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qwen3-embedding-0.6b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681728" y="2423160"/>
            <a:ext cx="27980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1024 boyutlu anlamsal vektör üretimi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028432" y="1463040"/>
            <a:ext cx="3310128" cy="1965960"/>
          </a:xfrm>
          <a:prstGeom prst="roundRect">
            <a:avLst>
              <a:gd name="adj" fmla="val 3256"/>
            </a:avLst>
          </a:prstGeom>
          <a:solidFill>
            <a:srgbClr val="FBFAF6"/>
          </a:solidFill>
          <a:ln w="12700">
            <a:solidFill>
              <a:srgbClr val="E4E2DD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284464" y="1719072"/>
            <a:ext cx="548640" cy="548640"/>
          </a:xfrm>
          <a:prstGeom prst="ellipse">
            <a:avLst/>
          </a:prstGeom>
          <a:solidFill>
            <a:srgbClr val="0B2A4A"/>
          </a:solidFill>
          <a:ln/>
        </p:spPr>
      </p:sp>
      <p:pic>
        <p:nvPicPr>
          <p:cNvPr id="16" name="Image 2" descr="/home/claude/deck/icons/databas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5787" y="1790395"/>
            <a:ext cx="405994" cy="40599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988552" y="1664208"/>
            <a:ext cx="212140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1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SQLite + FTS5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284464" y="2423160"/>
            <a:ext cx="27980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Yerel veritabanı ve tam metin arama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822960" y="3703320"/>
            <a:ext cx="3310128" cy="1965960"/>
          </a:xfrm>
          <a:prstGeom prst="roundRect">
            <a:avLst>
              <a:gd name="adj" fmla="val 3256"/>
            </a:avLst>
          </a:prstGeom>
          <a:solidFill>
            <a:srgbClr val="FBFAF6"/>
          </a:solidFill>
          <a:ln w="12700">
            <a:solidFill>
              <a:srgbClr val="E4E2DD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1078992" y="3959352"/>
            <a:ext cx="548640" cy="548640"/>
          </a:xfrm>
          <a:prstGeom prst="ellipse">
            <a:avLst/>
          </a:prstGeom>
          <a:solidFill>
            <a:srgbClr val="4D8AD6"/>
          </a:solidFill>
          <a:ln/>
        </p:spPr>
      </p:sp>
      <p:pic>
        <p:nvPicPr>
          <p:cNvPr id="21" name="Image 3" descr="/home/claude/deck/icons/search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0315" y="4030675"/>
            <a:ext cx="405994" cy="40599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783080" y="3904488"/>
            <a:ext cx="212140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1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BM25 + RRF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1078992" y="4663440"/>
            <a:ext cx="27980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Hibrit anahtar kelime + anlam bazlı sıralama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425696" y="3703320"/>
            <a:ext cx="3310128" cy="1965960"/>
          </a:xfrm>
          <a:prstGeom prst="roundRect">
            <a:avLst>
              <a:gd name="adj" fmla="val 3256"/>
            </a:avLst>
          </a:prstGeom>
          <a:solidFill>
            <a:srgbClr val="FBFAF6"/>
          </a:solidFill>
          <a:ln w="12700">
            <a:solidFill>
              <a:srgbClr val="E4E2DD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681728" y="3959352"/>
            <a:ext cx="548640" cy="548640"/>
          </a:xfrm>
          <a:prstGeom prst="ellipse">
            <a:avLst/>
          </a:prstGeom>
          <a:solidFill>
            <a:srgbClr val="4D8AD6"/>
          </a:solidFill>
          <a:ln/>
        </p:spPr>
      </p:sp>
      <p:pic>
        <p:nvPicPr>
          <p:cNvPr id="26" name="Image 4" descr="/home/claude/deck/icons/cod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3051" y="4030675"/>
            <a:ext cx="405994" cy="40599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385816" y="3904488"/>
            <a:ext cx="212140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1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FastAPI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4681728" y="4663440"/>
            <a:ext cx="27980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arayüzü için backend API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8028432" y="3703320"/>
            <a:ext cx="3310128" cy="1965960"/>
          </a:xfrm>
          <a:prstGeom prst="roundRect">
            <a:avLst>
              <a:gd name="adj" fmla="val 3256"/>
            </a:avLst>
          </a:prstGeom>
          <a:solidFill>
            <a:srgbClr val="FBFAF6"/>
          </a:solidFill>
          <a:ln w="12700">
            <a:solidFill>
              <a:srgbClr val="E4E2DD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284464" y="3959352"/>
            <a:ext cx="548640" cy="548640"/>
          </a:xfrm>
          <a:prstGeom prst="ellipse">
            <a:avLst/>
          </a:prstGeom>
          <a:solidFill>
            <a:srgbClr val="4D8AD6"/>
          </a:solidFill>
          <a:ln/>
        </p:spPr>
      </p:sp>
      <p:pic>
        <p:nvPicPr>
          <p:cNvPr id="31" name="Image 5" descr="/home/claude/deck/icons/sitemap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55787" y="4030675"/>
            <a:ext cx="405994" cy="40599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988552" y="3904488"/>
            <a:ext cx="212140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1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Vanilla JS/CSS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8284464" y="4663440"/>
            <a:ext cx="27980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Harici bağımlılık olmadan, offline-uyumlu arayüz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6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C10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BILGI TABANI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5029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1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Sadece resmi, doğrulanmış kaynaklardan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417320"/>
            <a:ext cx="3246120" cy="2148840"/>
          </a:xfrm>
          <a:prstGeom prst="roundRect">
            <a:avLst>
              <a:gd name="adj" fmla="val 3404"/>
            </a:avLst>
          </a:prstGeom>
          <a:solidFill>
            <a:srgbClr val="0B2A4A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00200"/>
            <a:ext cx="32461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277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822960" y="2697480"/>
            <a:ext cx="3246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DDE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Bilgi</a:t>
            </a:r>
            <a:endParaRPr lang="en-US" sz="125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DDE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Parçası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43400" y="1417320"/>
            <a:ext cx="3246120" cy="2148840"/>
          </a:xfrm>
          <a:prstGeom prst="roundRect">
            <a:avLst>
              <a:gd name="adj" fmla="val 3404"/>
            </a:avLst>
          </a:prstGeom>
          <a:solidFill>
            <a:srgbClr val="0B2A4A"/>
          </a:solidFill>
          <a:ln/>
        </p:spPr>
      </p:sp>
      <p:sp>
        <p:nvSpPr>
          <p:cNvPr id="8" name="Text 6"/>
          <p:cNvSpPr/>
          <p:nvPr/>
        </p:nvSpPr>
        <p:spPr>
          <a:xfrm>
            <a:off x="4343400" y="1600200"/>
            <a:ext cx="32461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4343400" y="2697480"/>
            <a:ext cx="3246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DDE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Kaynak</a:t>
            </a:r>
            <a:endParaRPr lang="en-US" sz="125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DDE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Belge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863840" y="1417320"/>
            <a:ext cx="3246120" cy="2148840"/>
          </a:xfrm>
          <a:prstGeom prst="roundRect">
            <a:avLst>
              <a:gd name="adj" fmla="val 3404"/>
            </a:avLst>
          </a:prstGeom>
          <a:solidFill>
            <a:srgbClr val="0B2A4A"/>
          </a:solidFill>
          <a:ln/>
        </p:spPr>
      </p:sp>
      <p:sp>
        <p:nvSpPr>
          <p:cNvPr id="11" name="Text 9"/>
          <p:cNvSpPr/>
          <p:nvPr/>
        </p:nvSpPr>
        <p:spPr>
          <a:xfrm>
            <a:off x="7863840" y="1600200"/>
            <a:ext cx="32461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5200" dirty="0"/>
          </a:p>
        </p:txBody>
      </p:sp>
      <p:sp>
        <p:nvSpPr>
          <p:cNvPr id="12" name="Text 10"/>
          <p:cNvSpPr/>
          <p:nvPr/>
        </p:nvSpPr>
        <p:spPr>
          <a:xfrm>
            <a:off x="7863840" y="2697480"/>
            <a:ext cx="3246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DDE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Kategori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22960" y="38404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10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Kategoriler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2960" y="4206240"/>
            <a:ext cx="3246120" cy="457200"/>
          </a:xfrm>
          <a:prstGeom prst="roundRect">
            <a:avLst>
              <a:gd name="adj" fmla="val 50000"/>
            </a:avLst>
          </a:prstGeom>
          <a:solidFill>
            <a:srgbClr val="FBFAF6"/>
          </a:solidFill>
          <a:ln w="12700">
            <a:solidFill>
              <a:srgbClr val="E4E2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420624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Tıbbi İlk Yardım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343400" y="4206240"/>
            <a:ext cx="3246120" cy="457200"/>
          </a:xfrm>
          <a:prstGeom prst="roundRect">
            <a:avLst>
              <a:gd name="adj" fmla="val 50000"/>
            </a:avLst>
          </a:prstGeom>
          <a:solidFill>
            <a:srgbClr val="FBFAF6"/>
          </a:solidFill>
          <a:ln w="12700">
            <a:solidFill>
              <a:srgbClr val="E4E2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26280" y="420624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Deprem Davranışı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863840" y="4206240"/>
            <a:ext cx="3246120" cy="457200"/>
          </a:xfrm>
          <a:prstGeom prst="roundRect">
            <a:avLst>
              <a:gd name="adj" fmla="val 50000"/>
            </a:avLst>
          </a:prstGeom>
          <a:solidFill>
            <a:srgbClr val="FBFAF6"/>
          </a:solidFill>
          <a:ln w="12700">
            <a:solidFill>
              <a:srgbClr val="E4E2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46720" y="420624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Kırılgan Gruplar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22960" y="4800600"/>
            <a:ext cx="3246120" cy="457200"/>
          </a:xfrm>
          <a:prstGeom prst="roundRect">
            <a:avLst>
              <a:gd name="adj" fmla="val 50000"/>
            </a:avLst>
          </a:prstGeom>
          <a:solidFill>
            <a:srgbClr val="FBFAF6"/>
          </a:solidFill>
          <a:ln w="12700">
            <a:solidFill>
              <a:srgbClr val="E4E2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5840" y="480060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Psikolojik Destek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343400" y="4800600"/>
            <a:ext cx="3246120" cy="457200"/>
          </a:xfrm>
          <a:prstGeom prst="roundRect">
            <a:avLst>
              <a:gd name="adj" fmla="val 50000"/>
            </a:avLst>
          </a:prstGeom>
          <a:solidFill>
            <a:srgbClr val="FBFAF6"/>
          </a:solidFill>
          <a:ln w="12700">
            <a:solidFill>
              <a:srgbClr val="E4E2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26280" y="480060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İletişim Kaynakları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7863840" y="4800600"/>
            <a:ext cx="3246120" cy="457200"/>
          </a:xfrm>
          <a:prstGeom prst="roundRect">
            <a:avLst>
              <a:gd name="adj" fmla="val 50000"/>
            </a:avLst>
          </a:prstGeom>
          <a:solidFill>
            <a:srgbClr val="FBFAF6"/>
          </a:solidFill>
          <a:ln w="12700">
            <a:solidFill>
              <a:srgbClr val="E4E2D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046720" y="480060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İdari Süreçler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822960" y="562356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B96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Kaynaklar: T.C. Sağlık Bakanlığı · AFAD · Türk Kızılay · İPKB/İSMEP · T.C. İçişleri Bakanlığı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6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C10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ARAYÜZÜ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50292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1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“Komuta Merkezi”: bir sohbet uygulaması değil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22960" y="1234440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Jenerik yapay zeka sohbet klişelerinden bilinçli olarak kaçınıldı — AFAD lacivert ve Kızılay kırmızısı kimliğiyle, gerçek bir enstrüman paneli estetiği.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2960" y="1965960"/>
            <a:ext cx="3310128" cy="1508760"/>
          </a:xfrm>
          <a:prstGeom prst="roundRect">
            <a:avLst>
              <a:gd name="adj" fmla="val 4242"/>
            </a:avLst>
          </a:prstGeom>
          <a:solidFill>
            <a:srgbClr val="FBFAF6"/>
          </a:solidFill>
          <a:ln w="12700">
            <a:solidFill>
              <a:srgbClr val="E4E2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2194560"/>
            <a:ext cx="502920" cy="502920"/>
          </a:xfrm>
          <a:prstGeom prst="ellipse">
            <a:avLst/>
          </a:prstGeom>
          <a:solidFill>
            <a:srgbClr val="C10100"/>
          </a:solidFill>
          <a:ln/>
        </p:spPr>
      </p:sp>
      <p:pic>
        <p:nvPicPr>
          <p:cNvPr id="7" name="Image 0" descr="/home/claude/deck/icons/bol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6940" y="2259940"/>
            <a:ext cx="372161" cy="37216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2148840"/>
            <a:ext cx="2212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1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Hızlı Protokol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051560" y="2788920"/>
            <a:ext cx="28529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 tıkla en sık ihtiyaç duyulan 6+ senaryo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425696" y="1965960"/>
            <a:ext cx="3310128" cy="1508760"/>
          </a:xfrm>
          <a:prstGeom prst="roundRect">
            <a:avLst>
              <a:gd name="adj" fmla="val 4242"/>
            </a:avLst>
          </a:prstGeom>
          <a:solidFill>
            <a:srgbClr val="FBFAF6"/>
          </a:solidFill>
          <a:ln w="12700">
            <a:solidFill>
              <a:srgbClr val="E4E2DD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654296" y="2194560"/>
            <a:ext cx="502920" cy="502920"/>
          </a:xfrm>
          <a:prstGeom prst="ellipse">
            <a:avLst/>
          </a:prstGeom>
          <a:solidFill>
            <a:srgbClr val="C10100"/>
          </a:solidFill>
          <a:ln/>
        </p:spPr>
      </p:sp>
      <p:pic>
        <p:nvPicPr>
          <p:cNvPr id="12" name="Image 1" descr="/home/claude/deck/icons/boo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9676" y="2259940"/>
            <a:ext cx="372161" cy="37216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294376" y="2148840"/>
            <a:ext cx="2212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1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Protokoller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654296" y="2788920"/>
            <a:ext cx="28529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belgenin tamamı, kategori kategori gezinme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8028432" y="1965960"/>
            <a:ext cx="3310128" cy="1508760"/>
          </a:xfrm>
          <a:prstGeom prst="roundRect">
            <a:avLst>
              <a:gd name="adj" fmla="val 4242"/>
            </a:avLst>
          </a:prstGeom>
          <a:solidFill>
            <a:srgbClr val="FBFAF6"/>
          </a:solidFill>
          <a:ln w="12700">
            <a:solidFill>
              <a:srgbClr val="E4E2DD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257032" y="2194560"/>
            <a:ext cx="502920" cy="502920"/>
          </a:xfrm>
          <a:prstGeom prst="ellipse">
            <a:avLst/>
          </a:prstGeom>
          <a:solidFill>
            <a:srgbClr val="C10100"/>
          </a:solidFill>
          <a:ln/>
        </p:spPr>
      </p:sp>
      <p:pic>
        <p:nvPicPr>
          <p:cNvPr id="17" name="Image 2" descr="/home/claude/deck/icons/histo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2412" y="2259940"/>
            <a:ext cx="372161" cy="37216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897112" y="2148840"/>
            <a:ext cx="2212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1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Vaka Geçmişi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8257032" y="2788920"/>
            <a:ext cx="28529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Oturum boyunca sorulan tüm sorular ve cevaplar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822960" y="3703320"/>
            <a:ext cx="3310128" cy="1508760"/>
          </a:xfrm>
          <a:prstGeom prst="roundRect">
            <a:avLst>
              <a:gd name="adj" fmla="val 4242"/>
            </a:avLst>
          </a:prstGeom>
          <a:solidFill>
            <a:srgbClr val="FBFAF6"/>
          </a:solidFill>
          <a:ln w="12700">
            <a:solidFill>
              <a:srgbClr val="E4E2DD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1051560" y="3931920"/>
            <a:ext cx="502920" cy="502920"/>
          </a:xfrm>
          <a:prstGeom prst="ellipse">
            <a:avLst/>
          </a:prstGeom>
          <a:solidFill>
            <a:srgbClr val="C10100"/>
          </a:solidFill>
          <a:ln/>
        </p:spPr>
      </p:sp>
      <p:pic>
        <p:nvPicPr>
          <p:cNvPr id="22" name="Image 3" descr="/home/claude/deck/icons/ma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6940" y="3997300"/>
            <a:ext cx="372161" cy="372161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691640" y="3886200"/>
            <a:ext cx="2212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1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Bölge Bilgisi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1051560" y="4526280"/>
            <a:ext cx="28529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AFAD’ın resmi toplanma alanı servisine yönlendirme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4425696" y="3703320"/>
            <a:ext cx="3310128" cy="1508760"/>
          </a:xfrm>
          <a:prstGeom prst="roundRect">
            <a:avLst>
              <a:gd name="adj" fmla="val 4242"/>
            </a:avLst>
          </a:prstGeom>
          <a:solidFill>
            <a:srgbClr val="FBFAF6"/>
          </a:solidFill>
          <a:ln w="12700">
            <a:solidFill>
              <a:srgbClr val="E4E2DD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4654296" y="3931920"/>
            <a:ext cx="502920" cy="502920"/>
          </a:xfrm>
          <a:prstGeom prst="ellipse">
            <a:avLst/>
          </a:prstGeom>
          <a:solidFill>
            <a:srgbClr val="C10100"/>
          </a:solidFill>
          <a:ln/>
        </p:spPr>
      </p:sp>
      <p:pic>
        <p:nvPicPr>
          <p:cNvPr id="27" name="Image 4" descr="/home/claude/deck/icons/phon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9676" y="3997300"/>
            <a:ext cx="372161" cy="372161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294376" y="3886200"/>
            <a:ext cx="2212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1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S.O.S. Kartı</a:t>
            </a:r>
            <a:endParaRPr lang="en-US" sz="1400" dirty="0"/>
          </a:p>
        </p:txBody>
      </p:sp>
      <p:sp>
        <p:nvSpPr>
          <p:cNvPr id="29" name="Text 22"/>
          <p:cNvSpPr/>
          <p:nvPr/>
        </p:nvSpPr>
        <p:spPr>
          <a:xfrm>
            <a:off x="4654296" y="4526280"/>
            <a:ext cx="28529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Aramayı atlayarak anında 112 bilgisi ve söz şablonu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8028432" y="3703320"/>
            <a:ext cx="3310128" cy="1508760"/>
          </a:xfrm>
          <a:prstGeom prst="roundRect">
            <a:avLst>
              <a:gd name="adj" fmla="val 4242"/>
            </a:avLst>
          </a:prstGeom>
          <a:solidFill>
            <a:srgbClr val="FBFAF6"/>
          </a:solidFill>
          <a:ln w="12700">
            <a:solidFill>
              <a:srgbClr val="E4E2DD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8257032" y="3931920"/>
            <a:ext cx="502920" cy="502920"/>
          </a:xfrm>
          <a:prstGeom prst="ellipse">
            <a:avLst/>
          </a:prstGeom>
          <a:solidFill>
            <a:srgbClr val="C10100"/>
          </a:solidFill>
          <a:ln/>
        </p:spPr>
      </p:sp>
      <p:pic>
        <p:nvPicPr>
          <p:cNvPr id="32" name="Image 5" descr="/home/claude/deck/icons/search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2412" y="3997300"/>
            <a:ext cx="372161" cy="372161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897112" y="3886200"/>
            <a:ext cx="2212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1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Anlık Arama</a:t>
            </a:r>
            <a:endParaRPr lang="en-US" sz="1400" dirty="0"/>
          </a:p>
        </p:txBody>
      </p:sp>
      <p:sp>
        <p:nvSpPr>
          <p:cNvPr id="34" name="Text 26"/>
          <p:cNvSpPr/>
          <p:nvPr/>
        </p:nvSpPr>
        <p:spPr>
          <a:xfrm>
            <a:off x="8257032" y="4526280"/>
            <a:ext cx="28529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Protokolleri yazdıkça filtreleme (Ctrl+K)</a:t>
            </a:r>
            <a:endParaRPr lang="en-US" sz="1100" dirty="0"/>
          </a:p>
        </p:txBody>
      </p:sp>
      <p:sp>
        <p:nvSpPr>
          <p:cNvPr id="35" name="Text 27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6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C10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DEĞERLENDIRME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5029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1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 soruluk etiketli test setiyle ölçüldü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822960" y="1417320"/>
          <a:ext cx="64922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635240" y="1417320"/>
            <a:ext cx="3703320" cy="4206240"/>
          </a:xfrm>
          <a:prstGeom prst="roundRect">
            <a:avLst>
              <a:gd name="adj" fmla="val 1975"/>
            </a:avLst>
          </a:prstGeom>
          <a:solidFill>
            <a:srgbClr val="0B2A4A"/>
          </a:solidFill>
          <a:ln/>
        </p:spPr>
      </p:sp>
      <p:sp>
        <p:nvSpPr>
          <p:cNvPr id="6" name="Text 3"/>
          <p:cNvSpPr/>
          <p:nvPr/>
        </p:nvSpPr>
        <p:spPr>
          <a:xfrm>
            <a:off x="7635240" y="1691640"/>
            <a:ext cx="3703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%87.5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7863840" y="260604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C10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GÜVENLİ REDDETME DOĞRULUĞU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8001000" y="3200400"/>
            <a:ext cx="2971800" cy="0"/>
          </a:xfrm>
          <a:prstGeom prst="line">
            <a:avLst/>
          </a:prstGeom>
          <a:noFill/>
          <a:ln w="12700">
            <a:solidFill>
              <a:srgbClr val="2C4A6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001000" y="3383280"/>
            <a:ext cx="2971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DDE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Belirsiz veya kapsam dışı 8 sorudan 7’sinde sistem doğru şekilde “bilmiyorum” dedi — uydurma cevap vermedi.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001000" y="4846320"/>
            <a:ext cx="2971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A9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Kalan 1 durum: dilin doğal belirsizliğinden kaynaklanan, matematiksel olarak tek eşikle çözülemeyen bilinen bir sınır.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6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C10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GELIŞTIRME SÜRECI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50292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1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Dört gerçek hata, dört ölçülebilir iyileşme</a:t>
            </a:r>
            <a:endParaRPr lang="en-US" sz="2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463040"/>
          <a:ext cx="10424160" cy="2560320"/>
        </p:xfrm>
        <a:graphic>
          <a:graphicData uri="http://schemas.openxmlformats.org/drawingml/2006/table">
            <a:tbl>
              <a:tblPr/>
              <a:tblGrid>
                <a:gridCol w="5852160"/>
                <a:gridCol w="2286000"/>
                <a:gridCol w="2286000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Aşama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Precision@3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Fallback Doğruluğu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İlk ölçüm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0.4722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C101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Eşik mekanizması düzeltmesi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0.4722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%50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Bağlamsal embedding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0.5556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%62.5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Fusion-skor hatası düzeltmesi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0.5556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F7D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%87.5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22960" y="43434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10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değerli ders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822960" y="4709160"/>
            <a:ext cx="10424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i="1" dirty="0">
                <a:solidFill>
                  <a:srgbClr val="121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“RRF skoru sıralama içindir, güven eşiği için doğrudan kullanılamaz.” Bu hata iki farklı kod yolunda (CLI ve API) ayrı ayrı ortaya çıktı — aynı prensibin her yerde titizlikle uygulanması gerektiğinin kanıtı.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6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C10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DÜRÜST DEĞERLENDIRME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5029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1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Bilinen sınırlamalar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11887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Bunlar birer eksiklik değil, gerekçelendirilmiş mühendislik kararları.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822960" y="1874520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8E3E3"/>
          </a:solidFill>
          <a:ln/>
        </p:spPr>
      </p:sp>
      <p:pic>
        <p:nvPicPr>
          <p:cNvPr id="6" name="Image 0" descr="/home/claude/deck/icons/warn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1929384"/>
            <a:ext cx="182880" cy="1828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828800"/>
            <a:ext cx="9921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Matematiksel olarak çözülemez sınır durumu — dilin doğal belirsizliği, tek bir eşikle tam çözülemiyor.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822960" y="2660904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8E3E3"/>
          </a:solidFill>
          <a:ln/>
        </p:spPr>
      </p:sp>
      <p:pic>
        <p:nvPicPr>
          <p:cNvPr id="9" name="Image 1" descr="/home/claude/deck/icons/warn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2715768"/>
            <a:ext cx="182880" cy="1828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25880" y="2615184"/>
            <a:ext cx="9921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Reranker (cross-encoder) modeli Foundry Local kataloğunda mevcut değil.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822960" y="3447288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8E3E3"/>
          </a:solidFill>
          <a:ln/>
        </p:spPr>
      </p:sp>
      <p:pic>
        <p:nvPicPr>
          <p:cNvPr id="12" name="Image 2" descr="/home/claude/deck/icons/warnin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3502152"/>
            <a:ext cx="182880" cy="1828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25880" y="3401568"/>
            <a:ext cx="9921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Küçük ölçekli embedding modeli, yazım/noktalama farklarına duyarlı olabiliyor.</a:t>
            </a:r>
            <a:endParaRPr lang="en-US" sz="1350" dirty="0"/>
          </a:p>
        </p:txBody>
      </p:sp>
      <p:sp>
        <p:nvSpPr>
          <p:cNvPr id="14" name="Shape 9"/>
          <p:cNvSpPr/>
          <p:nvPr/>
        </p:nvSpPr>
        <p:spPr>
          <a:xfrm>
            <a:off x="822960" y="423367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8E3E3"/>
          </a:solidFill>
          <a:ln/>
        </p:spPr>
      </p:sp>
      <p:pic>
        <p:nvPicPr>
          <p:cNvPr id="15" name="Image 3" descr="/home/claude/deck/icons/warnin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" y="4288536"/>
            <a:ext cx="182880" cy="18288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325880" y="4187952"/>
            <a:ext cx="9921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Değerlendirme seti 20 soru ile sınırlı — daha geniş veriyle genellenebilirlik artırılabilir.</a:t>
            </a:r>
            <a:endParaRPr lang="en-US" sz="1350" dirty="0"/>
          </a:p>
        </p:txBody>
      </p:sp>
      <p:sp>
        <p:nvSpPr>
          <p:cNvPr id="17" name="Shape 11"/>
          <p:cNvSpPr/>
          <p:nvPr/>
        </p:nvSpPr>
        <p:spPr>
          <a:xfrm>
            <a:off x="822960" y="5020056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8E3E3"/>
          </a:solidFill>
          <a:ln/>
        </p:spPr>
      </p:sp>
      <p:pic>
        <p:nvPicPr>
          <p:cNvPr id="18" name="Image 4" descr="/home/claude/deck/icons/warning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968" y="5074920"/>
            <a:ext cx="182880" cy="18288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325880" y="4974336"/>
            <a:ext cx="9921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hiçbir karar/üretim rolü almıyor — doğal bir sohbet deneyimini (geri soru sorma) engelliyor.</a:t>
            </a:r>
            <a:endParaRPr lang="en-US" sz="1350" dirty="0"/>
          </a:p>
        </p:txBody>
      </p:sp>
      <p:sp>
        <p:nvSpPr>
          <p:cNvPr id="20" name="Text 13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6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C10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ÇIKARIMLAR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5029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1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Öğrenilen dersler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508760"/>
            <a:ext cx="5074920" cy="1965960"/>
          </a:xfrm>
          <a:prstGeom prst="roundRect">
            <a:avLst>
              <a:gd name="adj" fmla="val 3256"/>
            </a:avLst>
          </a:prstGeom>
          <a:solidFill>
            <a:srgbClr val="FBFAF6"/>
          </a:solidFill>
          <a:ln w="12700">
            <a:solidFill>
              <a:srgbClr val="E4E2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0" y="1783080"/>
            <a:ext cx="594360" cy="594360"/>
          </a:xfrm>
          <a:prstGeom prst="ellipse">
            <a:avLst/>
          </a:prstGeom>
          <a:solidFill>
            <a:srgbClr val="0B2A4A"/>
          </a:solidFill>
          <a:ln/>
        </p:spPr>
      </p:sp>
      <p:pic>
        <p:nvPicPr>
          <p:cNvPr id="6" name="Image 0" descr="/home/claude/deck/icons/bul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4547" y="1860347"/>
            <a:ext cx="439826" cy="43982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74520" y="1764792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21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RRF skoru güven ölçüsü değildir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097280" y="2560320"/>
            <a:ext cx="4526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Sıralama için tasarlanmış bir skor, mutlak alaka düzeyini göstermez.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172200" y="1508760"/>
            <a:ext cx="5074920" cy="1965960"/>
          </a:xfrm>
          <a:prstGeom prst="roundRect">
            <a:avLst>
              <a:gd name="adj" fmla="val 3256"/>
            </a:avLst>
          </a:prstGeom>
          <a:solidFill>
            <a:srgbClr val="FBFAF6"/>
          </a:solidFill>
          <a:ln w="12700">
            <a:solidFill>
              <a:srgbClr val="E4E2D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46520" y="1783080"/>
            <a:ext cx="594360" cy="594360"/>
          </a:xfrm>
          <a:prstGeom prst="ellipse">
            <a:avLst/>
          </a:prstGeom>
          <a:solidFill>
            <a:srgbClr val="0B2A4A"/>
          </a:solidFill>
          <a:ln/>
        </p:spPr>
      </p:sp>
      <p:pic>
        <p:nvPicPr>
          <p:cNvPr id="11" name="Image 1" descr="/home/claude/deck/icons/lay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3787" y="1860347"/>
            <a:ext cx="439826" cy="43982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23760" y="1764792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21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Katmanlar arası tutarlılık kritik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6446520" y="2560320"/>
            <a:ext cx="4526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ve embedding’in aynı bağlamı kullanması Precision’ı %18 artırdı.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22960" y="3749040"/>
            <a:ext cx="5074920" cy="1965960"/>
          </a:xfrm>
          <a:prstGeom prst="roundRect">
            <a:avLst>
              <a:gd name="adj" fmla="val 3256"/>
            </a:avLst>
          </a:prstGeom>
          <a:solidFill>
            <a:srgbClr val="FBFAF6"/>
          </a:solidFill>
          <a:ln w="12700">
            <a:solidFill>
              <a:srgbClr val="E4E2DD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1097280" y="4023360"/>
            <a:ext cx="594360" cy="594360"/>
          </a:xfrm>
          <a:prstGeom prst="ellipse">
            <a:avLst/>
          </a:prstGeom>
          <a:solidFill>
            <a:srgbClr val="0B2A4A"/>
          </a:solidFill>
          <a:ln/>
        </p:spPr>
      </p:sp>
      <p:pic>
        <p:nvPicPr>
          <p:cNvPr id="16" name="Image 2" descr="/home/claude/deck/icons/flas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4547" y="4100627"/>
            <a:ext cx="439826" cy="43982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74520" y="4005072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21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 doğru ≠ üretim doğru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097280" y="4800600"/>
            <a:ext cx="4526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Eşik düzeltmesi eval’e uygulandı ama CLI’ye uygulanmamıştı — sessizce bozuktu.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172200" y="3749040"/>
            <a:ext cx="5074920" cy="1965960"/>
          </a:xfrm>
          <a:prstGeom prst="roundRect">
            <a:avLst>
              <a:gd name="adj" fmla="val 3256"/>
            </a:avLst>
          </a:prstGeom>
          <a:solidFill>
            <a:srgbClr val="FBFAF6"/>
          </a:solidFill>
          <a:ln w="12700">
            <a:solidFill>
              <a:srgbClr val="E4E2DD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446520" y="4023360"/>
            <a:ext cx="594360" cy="594360"/>
          </a:xfrm>
          <a:prstGeom prst="ellipse">
            <a:avLst/>
          </a:prstGeom>
          <a:solidFill>
            <a:srgbClr val="0B2A4A"/>
          </a:solidFill>
          <a:ln/>
        </p:spPr>
      </p:sp>
      <p:pic>
        <p:nvPicPr>
          <p:cNvPr id="21" name="Image 3" descr="/home/claude/deck/icons/brai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3787" y="4100627"/>
            <a:ext cx="439826" cy="43982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23760" y="4005072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21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Küçük modellerin sınırı erken test edilmeli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6446520" y="4800600"/>
            <a:ext cx="4526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Serbest üretim ve sınıflandırma ayrı ayrı test edilerek mimari netleşti.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6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822960"/>
            <a:ext cx="777240" cy="777240"/>
          </a:xfrm>
          <a:prstGeom prst="ellipse">
            <a:avLst/>
          </a:prstGeom>
          <a:solidFill>
            <a:srgbClr val="C10100"/>
          </a:solidFill>
          <a:ln/>
        </p:spPr>
      </p:sp>
      <p:pic>
        <p:nvPicPr>
          <p:cNvPr id="3" name="Image 0" descr="/home/claude/deck/icons/handshak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4001" y="924001"/>
            <a:ext cx="575158" cy="57515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1965960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Teşekkürler</a:t>
            </a:r>
            <a:endParaRPr lang="en-US" sz="4200" dirty="0"/>
          </a:p>
        </p:txBody>
      </p:sp>
      <p:sp>
        <p:nvSpPr>
          <p:cNvPr id="5" name="Text 2"/>
          <p:cNvSpPr/>
          <p:nvPr/>
        </p:nvSpPr>
        <p:spPr>
          <a:xfrm>
            <a:off x="822960" y="306324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800" i="1" dirty="0">
                <a:solidFill>
                  <a:srgbClr val="DDE5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“Bir sistemin en önemli özelliği, ne kadar akıllı görünmesi değil,</a:t>
            </a:r>
            <a:endParaRPr lang="en-US" sz="18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800" i="1" dirty="0">
                <a:solidFill>
                  <a:srgbClr val="DDE5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 zaman ‘bilmiyorum’ demesi gerektiğini bilmesidir.”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822960" y="4434840"/>
            <a:ext cx="2926080" cy="0"/>
          </a:xfrm>
          <a:prstGeom prst="line">
            <a:avLst/>
          </a:prstGeom>
          <a:noFill/>
          <a:ln w="12700">
            <a:solidFill>
              <a:srgbClr val="2C4A6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46177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10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Sorular?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6126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E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github.com/dildasoftware/afet-ani-cevrimdisi-ilk-yardim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7772400" y="61264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7E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 Soyad]  ·  [E-posta]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2026-08-12T15:08:18Z</dcterms:created>
  <dcterms:modified xsi:type="dcterms:W3CDTF">2026-08-12T15:08:18Z</dcterms:modified>
</cp:coreProperties>
</file>